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marL="0" indent="0">
              <a:spcAft>
                <a:spcPts val="600"/>
              </a:spcAft>
              <a:buNone/>
            </a:pPr>
            <a:r>
              <a:rPr sz="1400" b="1"/>
              <a:t>Problem Statement ID – SIH1733</a:t>
            </a:r>
            <a:endParaRPr lang="en-US" dirty="0"/>
          </a:p>
          <a:p>
            <a:pPr marL="0" indent="0">
              <a:spcAft>
                <a:spcPts val="600"/>
              </a:spcAft>
              <a:buNone/>
            </a:pPr>
            <a:r>
              <a:rPr sz="1400" b="1"/>
              <a:t>Problem Statement Title – SAR Image Colorization for Comprehensive Insight using Deep Learning Model</a:t>
            </a:r>
          </a:p>
          <a:p>
            <a:pPr marL="0" indent="0">
              <a:spcAft>
                <a:spcPts val="600"/>
              </a:spcAft>
              <a:buNone/>
            </a:pPr>
            <a:r>
              <a:rPr sz="1400" b="0"/>
              <a:t>Theme – Space Technology</a:t>
            </a:r>
          </a:p>
          <a:p>
            <a:pPr marL="0" indent="0">
              <a:spcAft>
                <a:spcPts val="600"/>
              </a:spcAft>
              <a:buNone/>
            </a:pPr>
            <a:r>
              <a:rPr sz="1400" b="0"/>
              <a:t>PS Category – Software</a:t>
            </a:r>
          </a:p>
          <a:p>
            <a:pPr marL="0" indent="0">
              <a:spcAft>
                <a:spcPts val="600"/>
              </a:spcAft>
              <a:buNone/>
            </a:pPr>
            <a:r>
              <a:rPr sz="1400" b="0"/>
              <a:t>Team ID – &lt;FILL BEFORE UPLOAD&gt;</a:t>
            </a:r>
          </a:p>
          <a:p>
            <a:pPr marL="0" indent="0">
              <a:spcAft>
                <a:spcPts val="600"/>
              </a:spcAft>
              <a:buNone/>
            </a:pPr>
            <a:r>
              <a:rPr sz="1400" b="0"/>
              <a:t>Team Name – Delta Force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612648" y="1207008"/>
            <a:ext cx="10972800" cy="5029200"/>
          </a:xfrm>
          <a:prstGeom prst="rect">
            <a:avLst/>
          </a:prstGeom>
          <a:noFill/>
          <a:ln w="9525">
            <a:noFill/>
            <a:miter lim="800000"/>
            <a:headEnd/>
            <a:tailEnd/>
          </a:ln>
        </p:spPr>
        <p:txBody>
          <a:bodyPr wrap="square">
            <a:spAutoFit/>
          </a:bodyPr>
          <a:lstStyle/>
          <a:p>
            <a:pPr marL="0" indent="0">
              <a:spcAft>
                <a:spcPts val="700"/>
              </a:spcAft>
              <a:buFont typeface="Wingdings" panose="05000000000000000000" pitchFamily="2" charset="2"/>
              <a:buNone/>
            </a:pPr>
            <a:r>
              <a:rPr sz="2050" b="1"/>
              <a:t>ChromaSAR — colorized SAR you can act on, with a confidence you can check</a:t>
            </a:r>
            <a:endParaRPr lang="en-US" sz="3200" u="sng" dirty="0">
              <a:solidFill>
                <a:schemeClr val="tx2"/>
              </a:solidFill>
              <a:latin typeface="Arial" pitchFamily="34" charset="0"/>
              <a:cs typeface="Arial" pitchFamily="34" charset="0"/>
            </a:endParaRPr>
          </a:p>
          <a:p>
            <a:pPr marL="0" indent="0">
              <a:spcAft>
                <a:spcPts val="400"/>
              </a:spcAft>
              <a:buNone/>
            </a:pPr>
            <a:r>
              <a:rPr sz="1800" b="0"/>
              <a:t>•  Problem: optical satellites go blind under cloud — exactly during the monsoon. Radar sees through it, but radar is grayscale texture only specialists can read.</a:t>
            </a:r>
          </a:p>
          <a:p>
            <a:pPr marL="0" indent="0">
              <a:spcAft>
                <a:spcPts val="400"/>
              </a:spcAft>
              <a:buNone/>
            </a:pPr>
            <a:r>
              <a:rPr sz="1800" b="0"/>
              <a:t>•  Solution: a conditional GAN colorizes Sentinel-1 SAR into optical-like imagery, trained on 10,000 co-registered SAR–optical pairs.</a:t>
            </a:r>
          </a:p>
          <a:p>
            <a:pPr marL="0" indent="0">
              <a:spcAft>
                <a:spcPts val="400"/>
              </a:spcAft>
              <a:buNone/>
            </a:pPr>
            <a:r>
              <a:rPr sz="1800" b="0"/>
              <a:t>•  USP — radar carries no colour, so every pixel ships a CALIBRATED CONFIDENCE. Below your threshold the output goes grey: “insufficient evidence”, not a confident guess.</a:t>
            </a:r>
          </a:p>
          <a:p>
            <a:pPr marL="0" indent="0">
              <a:spcAft>
                <a:spcPts val="400"/>
              </a:spcAft>
              <a:buNone/>
            </a:pPr>
            <a:r>
              <a:rPr sz="1800" b="0"/>
              <a:t>•  That confidence GATES everything downstream — flood extent, change detection and surface cover are all filtered by it.</a:t>
            </a:r>
          </a:p>
          <a:p>
            <a:pPr marL="0" indent="0">
              <a:spcAft>
                <a:spcPts val="400"/>
              </a:spcAft>
              <a:buNone/>
            </a:pPr>
            <a:r>
              <a:rPr sz="1800" b="0"/>
              <a:t>•  Unique 1 — we diagnosed WHY existing models look unsatisfactory. L1 loss is minimised by the conditional MEAN of every plausible colour, which is blur by definition, and PSNR rewards the same thing so standard evaluation cannot see it. A gradient-difference loss fixed it: sharpness 0.21 → 0.78 of the real optical, saturation 45% → 102%.</a:t>
            </a:r>
          </a:p>
          <a:p>
            <a:pPr marL="0" indent="0">
              <a:spcAft>
                <a:spcPts val="400"/>
              </a:spcAft>
              <a:buNone/>
            </a:pPr>
            <a:r>
              <a:rPr sz="1800" b="0"/>
              <a:t>•  Unique 2 — we measure what does not work and REFUSE to ship it. Built-up land cover from radar alone scores AUC 0.483, below chance, so the app reports it as unavailable and says why.</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b="1"/>
              <a:t>Delta Force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612648" y="3749039"/>
            <a:ext cx="10972800" cy="2514600"/>
          </a:xfrm>
          <a:prstGeom prst="rect">
            <a:avLst/>
          </a:prstGeom>
          <a:noFill/>
          <a:ln w="9525">
            <a:noFill/>
            <a:miter lim="800000"/>
            <a:headEnd/>
            <a:tailEnd/>
          </a:ln>
        </p:spPr>
        <p:txBody>
          <a:bodyPr wrap="square">
            <a:spAutoFit/>
          </a:bodyPr>
          <a:lstStyle/>
          <a:p>
            <a:pPr marL="0" indent="0" algn="just">
              <a:spcAft>
                <a:spcPts val="700"/>
              </a:spcAft>
              <a:buFont typeface="Arial" panose="020B0604020202020204" pitchFamily="34" charset="0"/>
              <a:buNone/>
            </a:pPr>
            <a:r>
              <a:rPr sz="1350" b="1"/>
              <a:t>Technologies</a:t>
            </a:r>
          </a:p>
          <a:p>
            <a:pPr marL="0" indent="0">
              <a:spcAft>
                <a:spcPts val="400"/>
              </a:spcAft>
              <a:buNone/>
            </a:pPr>
            <a:r>
              <a:rPr sz="1100" b="0"/>
              <a:t>•  Python · PyTorch · FastAPI · Next.js 15 · TypeScript · GDAL/rasterio · QGIS-ready GeoTIFF export</a:t>
            </a:r>
          </a:p>
          <a:p>
            <a:pPr marL="0" indent="0">
              <a:spcAft>
                <a:spcPts val="400"/>
              </a:spcAft>
              <a:buNone/>
            </a:pPr>
            <a:r>
              <a:rPr sz="1100" b="0"/>
              <a:t>•  Generator ResNet34-UNet (ImageNet encoder) + 70×70 PatchGAN discriminator</a:t>
            </a:r>
          </a:p>
          <a:p>
            <a:pPr marL="0" indent="0">
              <a:spcAft>
                <a:spcPts val="400"/>
              </a:spcAft>
              <a:buNone/>
            </a:pPr>
            <a:r>
              <a:rPr sz="1100" b="0"/>
              <a:t>•  Loss: L1 + frozen-VGG16 perceptual + adversarial + gradient-difference</a:t>
            </a:r>
          </a:p>
          <a:p>
            <a:pPr marL="0" indent="0">
              <a:spcAft>
                <a:spcPts val="400"/>
              </a:spcAft>
              <a:buNone/>
            </a:pPr>
            <a:r>
              <a:rPr sz="1100" b="0"/>
              <a:t>•  Confidence: 10-pass Monte-Carlo dropout, per pixel</a:t>
            </a:r>
          </a:p>
          <a:p>
            <a:pPr marL="0" indent="0">
              <a:spcAft>
                <a:spcPts val="400"/>
              </a:spcAft>
              <a:buNone/>
            </a:pPr>
            <a:r>
              <a:rPr sz="1100" b="0"/>
              <a:t>•  Flood: dual-polarisation threshold baseline + ResNet34-UNet segmentation, temperature-calibrated</a:t>
            </a:r>
          </a:p>
          <a:p>
            <a:pPr marL="0" indent="0">
              <a:spcAft>
                <a:spcPts val="700"/>
              </a:spcAft>
              <a:buNone/>
            </a:pPr>
            <a:r>
              <a:rPr sz="1350" b="1"/>
              <a:t>Methodology</a:t>
            </a:r>
          </a:p>
          <a:p>
            <a:pPr marL="0" indent="0">
              <a:spcAft>
                <a:spcPts val="400"/>
              </a:spcAft>
              <a:buNone/>
            </a:pPr>
            <a:r>
              <a:rPr sz="1100" b="0"/>
              <a:t>•  Split by SCENE, not patch — adjacent tiles cannot leak across train/validation</a:t>
            </a:r>
          </a:p>
          <a:p>
            <a:pPr marL="0" indent="0">
              <a:spcAft>
                <a:spcPts val="400"/>
              </a:spcAft>
              <a:buNone/>
            </a:pPr>
            <a:r>
              <a:rPr sz="1100" b="0"/>
              <a:t>•  Trained on a serverless A10G GPU (~$3 total). Inference runs on CPU: 1.1 s per scene, in-process, no network call</a:t>
            </a:r>
          </a:p>
          <a:p>
            <a:pPr marL="0" indent="0">
              <a:spcAft>
                <a:spcPts val="400"/>
              </a:spcAft>
              <a:buNone/>
            </a:pPr>
            <a:r>
              <a:rPr sz="1100" b="0"/>
              <a:t>•  Prototype running today: 4 workspaces, upload your own file, georeferenced export, 43 regression tests green</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b="1"/>
              <a:t>Delta Force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17411" name="Picture 17410" descr="architecture_slide.png"/>
          <p:cNvPicPr>
            <a:picLocks noChangeAspect="1"/>
          </p:cNvPicPr>
          <p:nvPr/>
        </p:nvPicPr>
        <p:blipFill>
          <a:blip r:embed="rId4"/>
          <a:stretch>
            <a:fillRect/>
          </a:stretch>
        </p:blipFill>
        <p:spPr>
          <a:xfrm>
            <a:off x="1298448" y="1234440"/>
            <a:ext cx="9601200" cy="2400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12648" y="1207008"/>
            <a:ext cx="10972800" cy="5029200"/>
          </a:xfrm>
          <a:prstGeom prst="rect">
            <a:avLst/>
          </a:prstGeom>
          <a:noFill/>
          <a:ln w="9525">
            <a:noFill/>
            <a:miter lim="800000"/>
            <a:headEnd/>
            <a:tailEnd/>
          </a:ln>
        </p:spPr>
        <p:txBody>
          <a:bodyPr wrap="square">
            <a:spAutoFit/>
          </a:bodyPr>
          <a:lstStyle/>
          <a:p>
            <a:pPr marL="0" marR="0" lvl="0" indent="0" algn="just" defTabSz="457200" rtl="0" eaLnBrk="1" fontAlgn="base" latinLnBrk="0" hangingPunct="1">
              <a:lnSpc>
                <a:spcPct val="100000"/>
              </a:lnSpc>
              <a:spcBef>
                <a:spcPct val="0"/>
              </a:spcBef>
              <a:spcAft>
                <a:spcPts val="700"/>
              </a:spcAft>
              <a:buClrTx/>
              <a:buSzTx/>
              <a:buFont typeface="Arial" panose="020B0604020202020204" pitchFamily="34" charset="0"/>
              <a:tabLst/>
              <a:defRPr/>
              <a:buNone/>
            </a:pPr>
            <a:r>
              <a:rPr sz="1850" b="1"/>
              <a:t>Feasibility — demonstrated, not projected</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0" indent="0">
              <a:spcAft>
                <a:spcPts val="400"/>
              </a:spcAft>
              <a:buNone/>
            </a:pPr>
            <a:r>
              <a:rPr sz="1600" b="0"/>
              <a:t>•  Runs today on a laptop CPU. No GPU, no cloud dependency, no API key.</a:t>
            </a:r>
          </a:p>
          <a:p>
            <a:pPr marL="0" indent="0">
              <a:spcAft>
                <a:spcPts val="400"/>
              </a:spcAft>
              <a:buNone/>
            </a:pPr>
            <a:r>
              <a:rPr sz="1600" b="0"/>
              <a:t>•  Flood mapping IoU 0.681 on the Sen1Floods11 OFFICIAL test split, against 0.550 for the physics baseline. Probabilities calibrated: ECE 0.029 → 0.016.</a:t>
            </a:r>
          </a:p>
          <a:p>
            <a:pPr marL="0" indent="0">
              <a:spcAft>
                <a:spcPts val="400"/>
              </a:spcAft>
              <a:buNone/>
            </a:pPr>
            <a:r>
              <a:rPr sz="1600" b="0"/>
              <a:t>•  An uploaded file scores identically to our benchmark — 0.00% difference across three scenes on three continents.</a:t>
            </a:r>
          </a:p>
          <a:p>
            <a:pPr marL="0" indent="0">
              <a:spcAft>
                <a:spcPts val="700"/>
              </a:spcAft>
              <a:buNone/>
            </a:pPr>
            <a:r>
              <a:rPr sz="1850" b="1"/>
              <a:t>Risks, and how we handle them</a:t>
            </a:r>
          </a:p>
          <a:p>
            <a:pPr marL="0" indent="0">
              <a:spcAft>
                <a:spcPts val="400"/>
              </a:spcAft>
              <a:buNone/>
            </a:pPr>
            <a:r>
              <a:rPr sz="1600" b="0"/>
              <a:t>•  Hallucination — the network invents colour the radar never carried. → Ship the confidence map and refuse below threshold. Surfaced, never hidden.</a:t>
            </a:r>
          </a:p>
          <a:p>
            <a:pPr marL="0" indent="0">
              <a:spcAft>
                <a:spcPts val="400"/>
              </a:spcAft>
              <a:buNone/>
            </a:pPr>
            <a:r>
              <a:rPr sz="1600" b="0"/>
              <a:t>•  Blur — L1 drives the output to the conditional mean. → Gradient-difference loss, plus a sharpness metric PSNR is structurally blind to.</a:t>
            </a:r>
          </a:p>
          <a:p>
            <a:pPr marL="0" indent="0">
              <a:spcAft>
                <a:spcPts val="400"/>
              </a:spcAft>
              <a:buNone/>
            </a:pPr>
            <a:r>
              <a:rPr sz="1600" b="0"/>
              <a:t>•  Flooded vegetation double-bounces and returns BRIGHT, not dark, so the physics threshold misses it. → Learned segmentation replaces physics where physics fails.</a:t>
            </a:r>
          </a:p>
          <a:p>
            <a:pPr marL="0" indent="0">
              <a:spcAft>
                <a:spcPts val="400"/>
              </a:spcAft>
              <a:buNone/>
            </a:pPr>
            <a:r>
              <a:rPr sz="1600" b="0"/>
              <a:t>•  Land cover from radar alone does not work (built-up AUC 0.483). → Measured, and refused. Cover is read from the co-registered Sentinel-2 optical and labelled as such.</a:t>
            </a:r>
          </a:p>
          <a:p>
            <a:pPr marL="0" indent="0">
              <a:spcAft>
                <a:spcPts val="400"/>
              </a:spcAft>
              <a:buNone/>
            </a:pPr>
            <a:r>
              <a:rPr sz="1600" b="0"/>
              <a:t>•  Domain shift across terrain. → Stratified sampling over agro-climatic zones, per-region fine-tuning.</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b="1"/>
              <a:t>Delta Force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612648" y="1207008"/>
            <a:ext cx="10972800" cy="5029200"/>
          </a:xfrm>
          <a:prstGeom prst="rect">
            <a:avLst/>
          </a:prstGeom>
          <a:noFill/>
          <a:ln w="9525">
            <a:noFill/>
            <a:miter lim="800000"/>
            <a:headEnd/>
            <a:tailEnd/>
          </a:ln>
        </p:spPr>
        <p:txBody>
          <a:bodyPr wrap="square">
            <a:spAutoFit/>
          </a:bodyPr>
          <a:lstStyle/>
          <a:p>
            <a:pPr marL="0" marR="0" lvl="0" indent="0" algn="just" defTabSz="457200" rtl="0" eaLnBrk="1" fontAlgn="base" latinLnBrk="0" hangingPunct="1">
              <a:lnSpc>
                <a:spcPct val="100000"/>
              </a:lnSpc>
              <a:spcBef>
                <a:spcPct val="0"/>
              </a:spcBef>
              <a:spcAft>
                <a:spcPts val="700"/>
              </a:spcAft>
              <a:buClrTx/>
              <a:buSzTx/>
              <a:buFont typeface="Arial" panose="020B0604020202020204" pitchFamily="34" charset="0"/>
              <a:tabLst/>
              <a:defRPr/>
              <a:buNone/>
            </a:pPr>
            <a:r>
              <a:rPr sz="2050" b="1"/>
              <a:t>Impact — target audience: Remote Sensing Image Analysts</a:t>
            </a:r>
          </a:p>
          <a:p>
            <a:pPr marL="0" indent="0">
              <a:spcAft>
                <a:spcPts val="400"/>
              </a:spcAft>
              <a:buNone/>
            </a:pPr>
            <a:r>
              <a:rPr sz="1800" b="0"/>
              <a:t>•  SAR interpretation drops from expert-only to any GIS user; exports open straight in QGIS on top of the source scene.</a:t>
            </a:r>
          </a:p>
          <a:p>
            <a:pPr marL="0" indent="0">
              <a:spcAft>
                <a:spcPts val="400"/>
              </a:spcAft>
              <a:buNone/>
            </a:pPr>
            <a:r>
              <a:rPr sz="1800" b="0"/>
              <a:t>•  Disaster response: flood extent mapped during the monsoon, exactly when optical satellites are blind. Permanent water is separated from new flooding — a river is not a disaster.</a:t>
            </a:r>
          </a:p>
          <a:p>
            <a:pPr marL="0" indent="0">
              <a:spcAft>
                <a:spcPts val="700"/>
              </a:spcAft>
              <a:buNone/>
            </a:pPr>
            <a:r>
              <a:rPr sz="2050" b="1"/>
              <a:t>Benefits</a:t>
            </a:r>
          </a:p>
          <a:p>
            <a:pPr marL="0" indent="0">
              <a:spcAft>
                <a:spcPts val="400"/>
              </a:spcAft>
              <a:buNone/>
            </a:pPr>
            <a:r>
              <a:rPr sz="1800" b="0"/>
              <a:t>•  Social — faster, better-informed response in the months India floods most.</a:t>
            </a:r>
          </a:p>
          <a:p>
            <a:pPr marL="0" indent="0">
              <a:spcAft>
                <a:spcPts val="400"/>
              </a:spcAft>
              <a:buNone/>
            </a:pPr>
            <a:r>
              <a:rPr sz="1800" b="0"/>
              <a:t>•  Economic — removes dependence on cloud-free optical tasking; runs on existing hardware, no GPU purchase.</a:t>
            </a:r>
          </a:p>
          <a:p>
            <a:pPr marL="0" indent="0">
              <a:spcAft>
                <a:spcPts val="400"/>
              </a:spcAft>
              <a:buNone/>
            </a:pPr>
            <a:r>
              <a:rPr sz="1800" b="0"/>
              <a:t>•  Strategic — indigenous SAR-interpretation capability that transfers to RISAT and NISAR; works offline, in the field, with no connectivity.</a:t>
            </a:r>
          </a:p>
          <a:p>
            <a:pPr marL="0" indent="0">
              <a:spcAft>
                <a:spcPts val="400"/>
              </a:spcAft>
              <a:buNone/>
            </a:pPr>
            <a:r>
              <a:rPr sz="1800" b="0"/>
              <a:t>•  Environmental — the PS's own named uses: continuous monitoring of wetlands, glaciers and coastal change instead of seasonal snapshots.</a:t>
            </a:r>
          </a:p>
          <a:p>
            <a:pPr marL="0" indent="0">
              <a:spcAft>
                <a:spcPts val="400"/>
              </a:spcAft>
              <a:buNone/>
            </a:pPr>
            <a:r>
              <a:rPr sz="1800" b="0"/>
              <a:t>•  Archive unlock — decades of existing SAR holdings become visually searchable.</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b="1"/>
              <a:t>Delta Force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12648" y="1207008"/>
            <a:ext cx="10972800" cy="5029200"/>
          </a:xfrm>
          <a:prstGeom prst="rect">
            <a:avLst/>
          </a:prstGeom>
          <a:noFill/>
          <a:ln w="9525">
            <a:noFill/>
            <a:miter lim="800000"/>
            <a:headEnd/>
            <a:tailEnd/>
          </a:ln>
        </p:spPr>
        <p:txBody>
          <a:bodyPr wrap="square">
            <a:spAutoFit/>
          </a:bodyPr>
          <a:lstStyle/>
          <a:p>
            <a:pPr marL="0" marR="0" lvl="0" indent="0" algn="just" defTabSz="457200" rtl="0" eaLnBrk="1" fontAlgn="base" latinLnBrk="0" hangingPunct="1">
              <a:lnSpc>
                <a:spcPct val="100000"/>
              </a:lnSpc>
              <a:spcBef>
                <a:spcPct val="0"/>
              </a:spcBef>
              <a:spcAft>
                <a:spcPts val="700"/>
              </a:spcAft>
              <a:buClrTx/>
              <a:buSzTx/>
              <a:buFont typeface="Arial" panose="020B0604020202020204" pitchFamily="34" charset="0"/>
              <a:tabLst/>
              <a:defRPr/>
              <a:buNone/>
            </a:pPr>
            <a:r>
              <a:rPr sz="1850" b="1"/>
              <a:t>Datasets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0" indent="0">
              <a:spcAft>
                <a:spcPts val="400"/>
              </a:spcAft>
              <a:buNone/>
            </a:pPr>
            <a:r>
              <a:rPr sz="1600" b="0"/>
              <a:t>•  Sen1Floods11 — Bonafilia et al., CVPRW 2020. 446 hand-labelled flood chips, 11 regions, official split.  github.com/cloudtostreet/Sen1Floods11</a:t>
            </a:r>
          </a:p>
          <a:p>
            <a:pPr marL="0" indent="0">
              <a:spcAft>
                <a:spcPts val="400"/>
              </a:spcAft>
              <a:buNone/>
            </a:pPr>
            <a:r>
              <a:rPr sz="1600" b="0"/>
              <a:t>•  SEN1-2 — Schmitt et al., ISPRS 2018. 10,000 co-registered SAR–optical pairs; the paper names SAR colorization as an intended use.  mediatum.ub.tum.de/1436631</a:t>
            </a:r>
          </a:p>
          <a:p>
            <a:pPr marL="0" indent="0">
              <a:spcAft>
                <a:spcPts val="400"/>
              </a:spcAft>
              <a:buNone/>
            </a:pPr>
            <a:r>
              <a:rPr sz="1600" b="0"/>
              <a:t>•  Imagery — Sentinel-1 / Sentinel-2 via ESA Copernicus.  dataspace.copernicus.eu</a:t>
            </a:r>
          </a:p>
          <a:p>
            <a:pPr marL="0" indent="0">
              <a:spcAft>
                <a:spcPts val="700"/>
              </a:spcAft>
              <a:buNone/>
            </a:pPr>
            <a:r>
              <a:rPr sz="1850" b="1"/>
              <a:t>Methods</a:t>
            </a:r>
          </a:p>
          <a:p>
            <a:pPr marL="0" indent="0">
              <a:spcAft>
                <a:spcPts val="400"/>
              </a:spcAft>
              <a:buNone/>
            </a:pPr>
            <a:r>
              <a:rPr sz="1600" b="0"/>
              <a:t>•  Isola et al., Image-to-Image Translation with Conditional Adversarial Networks (pix2pix), CVPR 2017 — our deliberate baseline.</a:t>
            </a:r>
          </a:p>
          <a:p>
            <a:pPr marL="0" indent="0">
              <a:spcAft>
                <a:spcPts val="400"/>
              </a:spcAft>
              <a:buNone/>
            </a:pPr>
            <a:r>
              <a:rPr sz="1600" b="0"/>
              <a:t>•  Mathieu et al., Deep Multi-Scale Video Prediction Beyond MSE, ICLR 2016 — the gradient-difference loss that removed our blur.</a:t>
            </a:r>
          </a:p>
          <a:p>
            <a:pPr marL="0" indent="0">
              <a:spcAft>
                <a:spcPts val="400"/>
              </a:spcAft>
              <a:buNone/>
            </a:pPr>
            <a:r>
              <a:rPr sz="1600" b="0"/>
              <a:t>•  Gal &amp; Ghahramani, Dropout as a Bayesian Approximation, ICML 2016 — the basis of our per-pixel confidence.</a:t>
            </a:r>
          </a:p>
          <a:p>
            <a:pPr marL="0" indent="0">
              <a:spcAft>
                <a:spcPts val="400"/>
              </a:spcAft>
              <a:buNone/>
            </a:pPr>
            <a:r>
              <a:rPr sz="1600" b="0"/>
              <a:t>•  Guo et al., On Calibration of Modern Neural Networks, ICML 2017 — temperature scaling; ECE 0.029 → 0.016.</a:t>
            </a:r>
          </a:p>
          <a:p>
            <a:pPr marL="0" indent="0">
              <a:spcAft>
                <a:spcPts val="400"/>
              </a:spcAft>
              <a:buNone/>
            </a:pPr>
            <a:r>
              <a:rPr sz="1600" b="0"/>
              <a:t>•  Xu, Modification of NDWI (MNDWI), IJRS 2006 — optical water reference; we re-measured the threshold rather than adopting it.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200" b="1"/>
              <a:t>Delta Force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