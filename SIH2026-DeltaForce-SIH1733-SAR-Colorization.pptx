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IDEA — your most important slide. Aim ~60 seconds.</a:t>
            </a:r>
          </a:p>
          <a:p/>
          <a:p>
            <a:r>
              <a:t>STRUCTURE: problem, solution, the catch, our answer.</a:t>
            </a:r>
          </a:p>
          <a:p/>
          <a:p>
            <a:r>
              <a:t>Say roughly: "SAR sees through cloud and darkness — it is the only thing that works</a:t>
            </a:r>
          </a:p>
          <a:p>
            <a:r>
              <a:t>during the monsoon. But it is a grayscale map of surface texture, and reading it takes</a:t>
            </a:r>
          </a:p>
          <a:p>
            <a:r>
              <a:t>years of training. We colorize it so any GIS user can read it directly.</a:t>
            </a:r>
          </a:p>
          <a:p/>
          <a:p>
            <a:r>
              <a:t>Here is what nobody else addresses: radar does not measure colour. So part of our output</a:t>
            </a:r>
          </a:p>
          <a:p>
            <a:r>
              <a:t>is genuine inference from texture and polarisation, and part is the model guessing. We</a:t>
            </a:r>
          </a:p>
          <a:p>
            <a:r>
              <a:t>make the model tell you which is which — a per-pixel confidence map that gates every</a:t>
            </a:r>
          </a:p>
          <a:p>
            <a:r>
              <a:t>downstream decision."</a:t>
            </a:r>
          </a:p>
          <a:p/>
          <a:p>
            <a:r>
              <a:t>THEN POINT AT THE RIGHT PANEL. This is the credibility moment. Most teams at this stage</a:t>
            </a:r>
          </a:p>
          <a:p>
            <a:r>
              <a:t>present concepts. Say: "This is not a proposal — the flood module already runs at IoU</a:t>
            </a:r>
          </a:p>
          <a:p>
            <a:r>
              <a:t>0.681 on a public benchmark, the probabilities are calibrated, and every upload is</a:t>
            </a:r>
          </a:p>
          <a:p>
            <a:r>
              <a:t>verified to give the same answer as the benchmark path to 0.00%."</a:t>
            </a:r>
          </a:p>
          <a:p/>
          <a:p>
            <a:r>
              <a:t>THE PS SAYS existing DL models are "not satisfactory" WITHOUT SAYING WHY. That gap is the</a:t>
            </a:r>
          </a:p>
          <a:p>
            <a:r>
              <a:t>whole opening: "They are unsatisfactory because they train on L1, and L1's optimum is the</a:t>
            </a:r>
          </a:p>
          <a:p>
            <a:r>
              <a:t>conditional mean of every plausible colour - which is blur by definition. PSNR rewards the</a:t>
            </a:r>
          </a:p>
          <a:p>
            <a:r>
              <a:t>same thing, so the standard evaluation cannot even see the defect. We measured it at 0.21</a:t>
            </a:r>
          </a:p>
          <a:p>
            <a:r>
              <a:t>of the real optical's gradient energy, changed the objective, and got 0.78."</a:t>
            </a:r>
          </a:p>
          <a:p/>
          <a:p>
            <a:r>
              <a:t>ON "NOVEL MODEL": do NOT claim a new architecture - ours is pix2pix-family on purpose, as</a:t>
            </a:r>
          </a:p>
          <a:p>
            <a:r>
              <a:t>the honest baseline. The novelty is the objective and the evaluation: a gradient-difference</a:t>
            </a:r>
          </a:p>
          <a:p>
            <a:r>
              <a:t>loss, calibrated per-pixel uncertainty, confidence-gated analytics, and a sharpness metric</a:t>
            </a:r>
          </a:p>
          <a:p>
            <a:r>
              <a:t>that saw what PSNR could not.</a:t>
            </a:r>
          </a:p>
          <a:p/>
          <a:p>
            <a:r>
              <a:t>IF THE PANEL IS TECHNICAL, LEAD WITH THE REFUSAL: "We measured whether radar alone can</a:t>
            </a:r>
          </a:p>
          <a:p>
            <a:r>
              <a:t>break a scene into forest, bare ground and built-up. Built-up scored AUC 0.483 - below</a:t>
            </a:r>
          </a:p>
          <a:p>
            <a:r>
              <a:t>chance - so we do not report it, and the app says why on screen. Most demos will show you</a:t>
            </a:r>
          </a:p>
          <a:p>
            <a:r>
              <a:t>five confident percentages nobody validated."</a:t>
            </a:r>
          </a:p>
          <a:p/>
          <a:p>
            <a:r>
              <a:t>SECOND STRONGEST: the colorization retrain. "Our first colouriser was five times smoother</a:t>
            </a:r>
          </a:p>
          <a:p>
            <a:r>
              <a:t>than reality. The cause was the loss, not the network - L1's optimum is the conditional</a:t>
            </a:r>
          </a:p>
          <a:p>
            <a:r>
              <a:t>mean of every plausible colour, which is blur by definition. We added a gradient loss,</a:t>
            </a:r>
          </a:p>
          <a:p>
            <a:r>
              <a:t>raised the adversarial weight, and gradient energy went 0.21 to 0.78 of ground truth.</a:t>
            </a:r>
          </a:p>
          <a:p>
            <a:r>
              <a:t>PSNR fell, and that is the expected signature of removing blur."</a:t>
            </a:r>
          </a:p>
          <a:p/>
          <a:p>
            <a:r>
              <a:t>IF ASKED "WHY A FLOOD DETECTOR IN A COLORIZATION PS?": colorization is the METHOD the PS</a:t>
            </a:r>
          </a:p>
          <a:p>
            <a:r>
              <a:t>asks for; usability is its stated GOAL. Flood mapping is how we prove usability improved -</a:t>
            </a:r>
          </a:p>
          <a:p>
            <a:r>
              <a:t>and it is the only half with hard ground truth (446 hand-labelled masks, public split), so</a:t>
            </a:r>
          </a:p>
          <a:p>
            <a:r>
              <a:t>it is what keeps the project honest. A confidence map also needs a consumer: flood mapping</a:t>
            </a:r>
          </a:p>
          <a:p>
            <a:r>
              <a:t>is what turns "here is an uncertainty map" into "low-trust regions never raise an alert."</a:t>
            </a:r>
          </a:p>
          <a:p/>
          <a:p>
            <a:r>
              <a:t>ANTICIPATE: "Isn't colorization just cosmetic?" Answer: no — it converts an image only</a:t>
            </a:r>
          </a:p>
          <a:p>
            <a:r>
              <a:t>specialists can use into one any responder can use, and the PS itself names analyst</a:t>
            </a:r>
          </a:p>
          <a:p>
            <a:r>
              <a:t>usability as the goal.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TECHNICAL APPROACH — ~60 seconds. Let the diagram do the work.</a:t>
            </a:r>
          </a:p>
          <a:p/>
          <a:p>
            <a:r>
              <a:t>THE ONE THING TO CONVEY: uncertainty is not a feature sitting beside the others, it is a</a:t>
            </a:r>
          </a:p>
          <a:p>
            <a:r>
              <a:t>GATE. Trace the orange arrow with your finger: confidence flows into the gate, and every</a:t>
            </a:r>
          </a:p>
          <a:p>
            <a:r>
              <a:t>analytic below passes through it.</a:t>
            </a:r>
          </a:p>
          <a:p/>
          <a:p>
            <a:r>
              <a:t>Say: "SAR goes into a conditional GAN. Two things come out — the colorized scene, and a</a:t>
            </a:r>
          </a:p>
          <a:p>
            <a:r>
              <a:t>confidence map from a Monte-Carlo dropout ensemble. Everything downstream is filtered by</a:t>
            </a:r>
          </a:p>
          <a:p>
            <a:r>
              <a:t>that confidence, so a low-trust region produces 'insufficient evidence' rather than a</a:t>
            </a:r>
          </a:p>
          <a:p>
            <a:r>
              <a:t>silent wrong answer."</a:t>
            </a:r>
          </a:p>
          <a:p/>
          <a:p>
            <a:r>
              <a:t>KNOW THESE, they will be asked:</a:t>
            </a:r>
          </a:p>
          <a:p>
            <a:r>
              <a:t> - Why a GAN and not plain L1? L1 rewards hedging — an unsure model outputs muddy</a:t>
            </a:r>
          </a:p>
          <a:p>
            <a:r>
              <a:t>   average colour. The discriminator forces a committed, sharp answer.</a:t>
            </a:r>
          </a:p>
          <a:p>
            <a:r>
              <a:t> - What is MC-dropout? Keep dropout ON at inference, run the model ten times. Where the</a:t>
            </a:r>
          </a:p>
          <a:p>
            <a:r>
              <a:t>   runs agree the model is reading real evidence; where they diverge it is guessing.</a:t>
            </a:r>
          </a:p>
          <a:p>
            <a:r>
              <a:t> - Why split by scene and not randomly? Patches from one scene are adjacent tiles of the</a:t>
            </a:r>
          </a:p>
          <a:p>
            <a:r>
              <a:t>   same place. A random split puts near-identical imagery on both sides and the</a:t>
            </a:r>
          </a:p>
          <a:p>
            <a:r>
              <a:t>   validation score becomes meaningless. Ours is lower and real.</a:t>
            </a:r>
          </a:p>
          <a:p/>
          <a:p>
            <a:r>
              <a:t>HONESTY LINE if pushed on architecture: the Swin-Transformer generator and land-cover</a:t>
            </a:r>
          </a:p>
          <a:p>
            <a:r>
              <a:t>conditioning are the next steps, not today's build. Say so. Never claim a component we</a:t>
            </a:r>
          </a:p>
          <a:p>
            <a:r>
              <a:t>have not run.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— ~45 seconds. The left card is your weapon.</a:t>
            </a:r>
          </a:p>
          <a:p/>
          <a:p>
            <a:r>
              <a:t>Say: "Feasibility is not a projection for us — the data is downloaded and verified, and</a:t>
            </a:r>
          </a:p>
          <a:p>
            <a:r>
              <a:t>the flood module already beats its baseline."</a:t>
            </a:r>
          </a:p>
          <a:p/>
          <a:p>
            <a:r>
              <a:t>THE RISK CARD IS A STRENGTH, NOT A WEAKNESS. Teams that list no risks look naive.</a:t>
            </a:r>
          </a:p>
          <a:p>
            <a:r>
              <a:t>Deliver the flooded-vegetation point deliberately:</a:t>
            </a:r>
          </a:p>
          <a:p/>
          <a:p>
            <a:r>
              <a:t>"Our threshold assumes water is dark, because water reflects radar away. But floodwater</a:t>
            </a:r>
          </a:p>
          <a:p>
            <a:r>
              <a:t>under trees produces a double bounce off the trunks and comes back BRIGHT. So the</a:t>
            </a:r>
          </a:p>
          <a:p>
            <a:r>
              <a:t>threshold misses it — and worse, it confidently reports no water across a fully flooded</a:t>
            </a:r>
          </a:p>
          <a:p>
            <a:r>
              <a:t>scene. We measured that. It is why we trained a segmentation network, and why the</a:t>
            </a:r>
          </a:p>
          <a:p>
            <a:r>
              <a:t>confidence gate exists."</a:t>
            </a:r>
          </a:p>
          <a:p/>
          <a:p>
            <a:r>
              <a:t>That single answer shows you understand the physics, that you tested honestly, and that</a:t>
            </a:r>
          </a:p>
          <a:p>
            <a:r>
              <a:t>your architecture responds to a real failure. It is the strongest thirty seconds</a:t>
            </a:r>
          </a:p>
          <a:p>
            <a:r>
              <a:t>available to you.</a:t>
            </a:r>
          </a:p>
          <a:p/>
          <a:p>
            <a:r>
              <a:t>IF ASKED "what is your biggest risk?" — hallucination, and say it plainly. Then: which</a:t>
            </a:r>
          </a:p>
          <a:p>
            <a:r>
              <a:t>is exactly why we built the confidence map first rather than last.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IMPACT — ~40 seconds. Lead with the number, land on the monsoon.</a:t>
            </a:r>
          </a:p>
          <a:p/>
          <a:p>
            <a:r>
              <a:t>Say: "0.681 IoU on a public flood benchmark, official test split — not a number we chose</a:t>
            </a:r>
          </a:p>
          <a:p>
            <a:r>
              <a:t>for ourselves, and the probabilities are calibrated so 0.7 means 0.7."</a:t>
            </a:r>
          </a:p>
          <a:p/>
          <a:p>
            <a:r>
              <a:t>THE LINE THAT MATTERS: "During the Indian monsoon, optical satellites see cloud. SAR</a:t>
            </a:r>
          </a:p>
          <a:p>
            <a:r>
              <a:t>sees the ground. Right now that data reaches only the small number of analysts trained</a:t>
            </a:r>
          </a:p>
          <a:p>
            <a:r>
              <a:t>to read radar. We widen that to every GIS user in every state disaster management</a:t>
            </a:r>
          </a:p>
          <a:p>
            <a:r>
              <a:t>authority."</a:t>
            </a:r>
          </a:p>
          <a:p/>
          <a:p>
            <a:r>
              <a:t>Name real events if the room is receptive — Kerala 2018, Assam floods, Sikkim 2023 GLOF.</a:t>
            </a:r>
          </a:p>
          <a:p>
            <a:r>
              <a:t>Concrete beats abstract.</a:t>
            </a:r>
          </a:p>
          <a:p/>
          <a:p>
            <a:r>
              <a:t>DO NOT oversell economics. You have no cost model. Stick to: open-source, no licence</a:t>
            </a:r>
          </a:p>
          <a:p>
            <a:r>
              <a:t>cost, no dependence on commercial cloud-free tasking.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REFERENCES — 10 seconds. Do not read them aloud.</a:t>
            </a:r>
          </a:p>
          <a:p/>
          <a:p>
            <a:r>
              <a:t>Say: "Sources are listed; the datasets are public and the splits are the published ones,</a:t>
            </a:r>
          </a:p>
          <a:p>
            <a:r>
              <a:t>so our numbers are reproducible."</a:t>
            </a:r>
          </a:p>
          <a:p/>
          <a:p>
            <a:r>
              <a:t>THE POINT of this slide is reproducibility, not literature review. If a judge engages,</a:t>
            </a:r>
          </a:p>
          <a:p>
            <a:r>
              <a:t>the strongest fact is: the SEN1-2 paper names SAR colorization as its first intended</a:t>
            </a:r>
          </a:p>
          <a:p>
            <a:r>
              <a:t>application — we did not pick a dataset at random, we picked the one built for this task.</a:t>
            </a:r>
          </a:p>
          <a:p/>
          <a:p>
            <a:r>
              <a:t>CLOSING LINE if you get one: "Every number on these slides came from code that runs</a:t>
            </a:r>
          </a:p>
          <a:p>
            <a:r>
              <a:t>today, on public data, with published splits. We would rather show you a smaller true</a:t>
            </a:r>
          </a:p>
          <a:p>
            <a:r>
              <a:t>result than a larger claim."</a:t>
            </a:r>
          </a:p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20 seconds, do not linger.</a:t>
            </a:r>
          </a:p>
          <a:p/>
          <a:p>
            <a:r>
              <a:t>Say: "Delta Force, problem statement SIH1733 from ISRO — SAR image colorization."</a:t>
            </a:r>
          </a:p>
          <a:p/>
          <a:p>
            <a:r>
              <a:t>Then move. The title slide earns nothing; your time budget belongs to slides 2 and 3.</a:t>
            </a:r>
          </a:p>
          <a:p/>
          <a:p>
            <a:r>
              <a:t>If asked "why this PS?" — because SAR is the only sensor that works through the monsoon,</a:t>
            </a:r>
          </a:p>
          <a:p>
            <a:r>
              <a:t>and it is unreadable to non-specialists. That gap is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874519"/>
            <a:ext cx="5230368" cy="4251960"/>
          </a:xfrm>
          <a:prstGeom prst="rect">
            <a:avLst/>
          </a:prstGeom>
          <a:noFill/>
        </p:spPr>
        <p:txBody>
          <a:bodyPr wrap="square" rtlCol="0"/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Problem Statement ID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SIH1733</a:t>
            </a:r>
            <a:endParaRPr lang="en-US" dirty="0"/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Problem Statement Title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SAR Image Colorization for Comprehensive Insight using Deep Learning Model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Theme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Space Technology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PS Category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Software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Team ID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(to be filled after portal registration)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1F2A44"/>
                </a:solidFill>
                <a:latin typeface="Arial"/>
              </a:rPr>
              <a:t>Team Name - </a:t>
            </a:r>
            <a:r>
              <a:rPr sz="1950" b="0" u="none">
                <a:solidFill>
                  <a:srgbClr val="1F2A44"/>
                </a:solidFill>
                <a:latin typeface="Arial"/>
              </a:rPr>
              <a:t>DELTA FORCE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900" b="1" u="none">
                <a:solidFill>
                  <a:srgbClr val="0B3C5D"/>
                </a:solidFill>
                <a:latin typeface="Arial"/>
              </a:rPr>
              <a:t>ChromaSAR — Reading SAR Like a Photograph, and Knowing When Not To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7059168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80"/>
              </a:spcAft>
              <a:buNone/>
            </a:pPr>
            <a:r>
              <a:rPr sz="1920" b="1" u="sng">
                <a:solidFill>
                  <a:srgbClr val="0B3C5D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600" b="1" u="none">
                <a:solidFill>
                  <a:srgbClr val="1F2A44"/>
                </a:solidFill>
                <a:latin typeface="Arial"/>
              </a:rPr>
              <a:t>The problem in one line:</a:t>
            </a:r>
            <a:r>
              <a:rPr sz="1600" b="0" u="none">
                <a:solidFill>
                  <a:srgbClr val="1F2A44"/>
                </a:solidFill>
                <a:latin typeface="Arial"/>
              </a:rPr>
              <a:t> SAR is the only sensor that sees through cloud, smoke and darkness — and almost nobody can read it. Optical imagery is instantly readable and blocked by cloud for months of the Indian monsoon.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600" b="1" u="none">
                <a:solidFill>
                  <a:srgbClr val="1F2A44"/>
                </a:solidFill>
                <a:latin typeface="Arial"/>
              </a:rPr>
              <a:t>What we build:</a:t>
            </a:r>
            <a:r>
              <a:rPr sz="1600" b="0" u="none">
                <a:solidFill>
                  <a:srgbClr val="1F2A44"/>
                </a:solidFill>
                <a:latin typeface="Arial"/>
              </a:rPr>
              <a:t> a deep-learning system that turns grayscale SAR into optical-like colour imagery, so any GIS user reads terrain directly instead of decoding radar backscatter.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600" b="1" u="none">
                <a:solidFill>
                  <a:srgbClr val="1F2A44"/>
                </a:solidFill>
                <a:latin typeface="Arial"/>
              </a:rPr>
              <a:t>The catch nobody addresses:</a:t>
            </a:r>
            <a:r>
              <a:rPr sz="1600" b="0" u="none">
                <a:solidFill>
                  <a:srgbClr val="1F2A44"/>
                </a:solidFill>
                <a:latin typeface="Arial"/>
              </a:rPr>
              <a:t> radar does not measure colour. Some output is real inference from texture and polarisation; some is the model guessing from learned priors. A confidently wrong flood map is worse than no map.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600" b="1" u="none">
                <a:solidFill>
                  <a:srgbClr val="1F2A44"/>
                </a:solidFill>
                <a:latin typeface="Arial"/>
              </a:rPr>
              <a:t>Our USP:</a:t>
            </a:r>
            <a:r>
              <a:rPr sz="1600" b="0" u="none">
                <a:solidFill>
                  <a:srgbClr val="1F2A44"/>
                </a:solidFill>
                <a:latin typeface="Arial"/>
              </a:rPr>
              <a:t> every pixel carries a CALIBRATED CONFIDENCE, and that map GATES what the system is willing to report. Below threshold it says “insufficient evidence” instead of a silent wrong answer — and where we measured that a capability does not work, we removed it rather than shipping it.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0B3C5D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7818120" y="1188720"/>
            <a:ext cx="3913631" cy="5047488"/>
          </a:xfrm>
          <a:prstGeom prst="roundRect">
            <a:avLst>
              <a:gd name="adj" fmla="val 6000"/>
            </a:avLst>
          </a:prstGeom>
          <a:solidFill>
            <a:srgbClr val="FBF0E6"/>
          </a:solidFill>
          <a:ln w="12700">
            <a:solidFill>
              <a:srgbClr val="EA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500" b="1" u="none">
                <a:solidFill>
                  <a:srgbClr val="C25E00"/>
                </a:solidFill>
                <a:latin typeface="Arial"/>
              </a:rPr>
              <a:t>ALREADY BUILT AND MEASURED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380" b="1" u="none">
                <a:solidFill>
                  <a:srgbClr val="0B3C5D"/>
                </a:solidFill>
                <a:latin typeface="Arial"/>
              </a:rPr>
              <a:t>Flood mapping from SAR — working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60" b="0" u="none">
                <a:solidFill>
                  <a:srgbClr val="4A5A68"/>
                </a:solidFill>
                <a:latin typeface="Arial"/>
              </a:rPr>
              <a:t>IoU 0.681 on the Sen1Floods11 official test split, against 0.550 for the physics baseline. Probabilities calibrated: ECE 0.029 to 0.016.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380" b="1" u="none">
                <a:solidFill>
                  <a:srgbClr val="0B3C5D"/>
                </a:solidFill>
                <a:latin typeface="Arial"/>
              </a:rPr>
              <a:t>Training data — verified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60" b="0" u="none">
                <a:solidFill>
                  <a:srgbClr val="4A5A68"/>
                </a:solidFill>
                <a:latin typeface="Arial"/>
              </a:rPr>
              <a:t>10,000 SAR–optical pairs and 446 hand-labelled flood chips. 0 corrupt, 0 unmatched, 0 duplicate.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380" b="1" u="none">
                <a:solidFill>
                  <a:srgbClr val="0B3C5D"/>
                </a:solidFill>
                <a:latin typeface="Arial"/>
              </a:rPr>
              <a:t>Colorization — retrained to remove blur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60" b="0" u="none">
                <a:solidFill>
                  <a:srgbClr val="4A5A68"/>
                </a:solidFill>
                <a:latin typeface="Arial"/>
              </a:rPr>
              <a:t>Sharpness 0.21 → 0.78 of the real optical; saturation 45% → 102%. We changed the loss, not the network.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380" b="1" u="none">
                <a:solidFill>
                  <a:srgbClr val="0B3C5D"/>
                </a:solidFill>
                <a:latin typeface="Arial"/>
              </a:rPr>
              <a:t>Uncertainty — calibrated, not guessed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60" b="0" u="none">
                <a:solidFill>
                  <a:srgbClr val="4A5A68"/>
                </a:solidFill>
                <a:latin typeface="Arial"/>
              </a:rPr>
              <a:t>Per-pixel confidence from a 10-pass MC-dropout ensemble. The scale is the p99 of the measured spread over 2.62M pixels.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380" b="1" u="none">
                <a:solidFill>
                  <a:srgbClr val="0B3C5D"/>
                </a:solidFill>
                <a:latin typeface="Arial"/>
              </a:rPr>
              <a:t>Every scene located — exactly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60" b="0" u="none">
                <a:solidFill>
                  <a:srgbClr val="4A5A68"/>
                </a:solidFill>
                <a:latin typeface="Arial"/>
              </a:rPr>
              <a:t>Country, continent and coordinates from the file's own georeferencing. 446/446 scenes resolved,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0B3C5D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architecture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1188720"/>
            <a:ext cx="10058400" cy="2514600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3904487"/>
            <a:ext cx="5431536" cy="23317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40"/>
              </a:spcAft>
              <a:buNone/>
            </a:pPr>
            <a:r>
              <a:rPr sz="919" b="1" u="none">
                <a:solidFill>
                  <a:srgbClr val="C25E00"/>
                </a:solidFill>
                <a:latin typeface="Arial"/>
              </a:rPr>
              <a:t>TECHNOLOGIES TO BE USED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Core: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Python, PyTorch, ONNX Runtime, Modal (GPU)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Colorization: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conditional GAN — U-Net / ResNet34 generator (ImageNet encoder) + PatchGAN discriminator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Losses: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L1 + adversarial + frozen-VGG16 perceptual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Uncertainty: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Monte-Carlo dropout ensemble → per-pixel confidence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Flood module: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dual-polarisation threshold + ResNet34-UNet segmentation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Geospatial: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ESA SNAP, GDAL / Rasterio, QGIS plugin, tifffile; true ground area from the raster’s own georeferencing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Serving: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FastAPI + Next.js 15, runs CPU-only on a laptop — no GPU, no network and no cloud call at inference; the demo cannot be broken by venue wifi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Geolocation: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 GeoTIFF tiepoint → WGS84 lat/lon → offline country and continent lookup; resolves 446/446 benchmark scenes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300216" y="3904487"/>
            <a:ext cx="5431536" cy="23317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40"/>
              </a:spcAft>
              <a:buNone/>
            </a:pPr>
            <a:r>
              <a:rPr sz="919" b="1" u="none">
                <a:solidFill>
                  <a:srgbClr val="C25E00"/>
                </a:solidFill>
                <a:latin typeface="Arial"/>
              </a:rPr>
              <a:t>METHODOLOGY &amp; IMPLEMENTATION PROCESS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1  Data</a:t>
            </a:r>
            <a:r>
              <a:rPr sz="840" b="1" u="none">
                <a:solidFill>
                  <a:srgbClr val="1F2A44"/>
                </a:solidFill>
                <a:latin typeface="Arial"/>
              </a:rPr>
              <a:t> — 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SEN1-2 and SEN12MS paired patches; every file decoded and verified; defective scenes excluded by an automated quality check.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2  Train</a:t>
            </a:r>
            <a:r>
              <a:rPr sz="840" b="1" u="none">
                <a:solidFill>
                  <a:srgbClr val="1F2A44"/>
                </a:solidFill>
                <a:latin typeface="Arial"/>
              </a:rPr>
              <a:t> — 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Conditional generator, composite loss. Train/validation split is by SCENE, not by patch — adjacent tiles of one place on both sides would inflate the score.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3  Quantify</a:t>
            </a:r>
            <a:r>
              <a:rPr sz="840" b="1" u="none">
                <a:solidFill>
                  <a:srgbClr val="1F2A44"/>
                </a:solidFill>
                <a:latin typeface="Arial"/>
              </a:rPr>
              <a:t> — 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MC-dropout ensemble; per-pixel spread becomes the confidence map, with a refuse-to-colorize threshold.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4  Evaluate</a:t>
            </a:r>
            <a:r>
              <a:rPr sz="840" b="1" u="none">
                <a:solidFill>
                  <a:srgbClr val="1F2A44"/>
                </a:solidFill>
                <a:latin typeface="Arial"/>
              </a:rPr>
              <a:t> — 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PSNR, SSIM, LPIPS against ground truth, reported per land-cover class, plus a calibration curve proving confidence predicts error.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▪"/>
            </a:pPr>
            <a:r>
              <a:rPr sz="840" b="1" u="none">
                <a:solidFill>
                  <a:srgbClr val="1F2A44"/>
                </a:solidFill>
                <a:latin typeface="Arial"/>
              </a:rPr>
              <a:t>5  Apply</a:t>
            </a:r>
            <a:r>
              <a:rPr sz="840" b="1" u="none">
                <a:solidFill>
                  <a:srgbClr val="1F2A44"/>
                </a:solidFill>
                <a:latin typeface="Arial"/>
              </a:rPr>
              <a:t> — </a:t>
            </a:r>
            <a:r>
              <a:rPr sz="840" b="0" u="none">
                <a:solidFill>
                  <a:srgbClr val="1F2A44"/>
                </a:solidFill>
                <a:latin typeface="Arial"/>
              </a:rPr>
              <a:t>Confidence-gated flood mapping, change detection and per-scene surface-cover breakdown; alerts qualified by trust, never issued from a low-confidence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0B3C5D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660" b="1" u="none">
                <a:solidFill>
                  <a:srgbClr val="C25E00"/>
                </a:solidFill>
                <a:latin typeface="Arial"/>
              </a:rPr>
              <a:t>PROVEN — NOT ASSUMED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10,000 verified SAR–optical pairs. 0 corrupt, 0 unmatched, 0 duplicate.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Beats its physics baseline on a public benchmark, official split.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Your upload scores identically to our benchmark — 0.00% difference, three scenes. 43 regression tests.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We found and fixed a bug in our own headline number: flood area read 11.9% high for India, 14.6% for Pakistan.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31208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FBF0E6"/>
          </a:solidFill>
          <a:ln w="12700">
            <a:solidFill>
              <a:srgbClr val="EA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660" b="1" u="none">
                <a:solidFill>
                  <a:srgbClr val="9A4B2F"/>
                </a:solidFill>
                <a:latin typeface="Arial"/>
              </a:rPr>
              <a:t>CHALLENGES &amp; RISKS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Hallucination — the network invents colour the radar never carried.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PSNR rewards blur. “It looks right” is not a metric.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Flooded vegetation returns BRIGHT, not dark - the threshold misses it.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Land cover from radar alone does NOT work: built-up scores AUC 0.483, below chance.the quantity being reported.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205216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660" b="1" u="none">
                <a:solidFill>
                  <a:srgbClr val="C25E00"/>
                </a:solidFill>
                <a:latin typeface="Arial"/>
              </a:rPr>
              <a:t>HOW WE HANDLE THEM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Ship the confidence map and refuse below threshold. Hallucination is surfaced, never hidden — the differentiator.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A gradient-energy metric that PSNR cannot see — it caught the blur.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Learned segmentation where physics fails: IoU 0.550 to 0.681, calibrated.(ECE 0.029 → 0.016).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We measured it and REFUSED to ship it. Cover comes from Sentinel-2 optical instead; built-up is marked unavailable, on screen.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0B3C5D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C25E00"/>
                </a:solidFill>
                <a:latin typeface="Arial"/>
              </a:rPr>
              <a:t>0.681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IoU flood detection on the Sen1Floods11 public benchmark, official split — calibrated, ECE 0.016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1292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C25E00"/>
                </a:solidFill>
                <a:latin typeface="Arial"/>
              </a:rPr>
              <a:t>24 × 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Usable through cloud, monsoon and night — when optical satellites are blind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16864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C25E00"/>
                </a:solidFill>
                <a:latin typeface="Arial"/>
              </a:rPr>
              <a:t>Per-pixel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Confidence on every output; low-trust regions never raise an alert, and classes we cannot score are not reported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633472"/>
            <a:ext cx="5431536" cy="3602736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20"/>
              </a:spcAft>
              <a:buNone/>
            </a:pPr>
            <a:r>
              <a:rPr sz="1490" b="1" u="none">
                <a:solidFill>
                  <a:srgbClr val="C25E00"/>
                </a:solidFill>
                <a:latin typeface="Arial"/>
              </a:rPr>
              <a:t>POTENTIAL IMPACT ON THE TARGET AUDIENCE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Disaster response: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flood extent mapped during the monsoon, exactly when optical is blind.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Remote-sensing analysts: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the PS's stated users. Interpretation drops from expert-only to any GIS user.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Defence and border surveillance: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night-time, all-weather scene understanding for non-specialists.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Geology and environment: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the PS's named use cases - lithology, wetlands, glacier retreat.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00216" y="2633472"/>
            <a:ext cx="5431536" cy="3602736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20"/>
              </a:spcAft>
              <a:buNone/>
            </a:pPr>
            <a:r>
              <a:rPr sz="1490" b="1" u="none">
                <a:solidFill>
                  <a:srgbClr val="C25E00"/>
                </a:solidFill>
                <a:latin typeface="Arial"/>
              </a:rPr>
              <a:t>BENEFITS (SOCIAL, ECONOMIC, STRATEGIC, ENVIRONMENTAL)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Social: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faster, better-informed disaster response in the months India is most vulnerable and least visible from optical orbit.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Economic: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removes dependence on cloud-free optical tasking and commercial imagery purchase; fully open-source, zero licence cost.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Strategic: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indigenous SAR-interpretation capability that scales onto RISAT and the incoming NISAR data volume.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Archive unlock: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decades of existing SAR holdings become visually searchable by a far larger analyst pool.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60" b="1" u="none">
                <a:solidFill>
                  <a:srgbClr val="1F2A44"/>
                </a:solidFill>
                <a:latin typeface="Arial"/>
              </a:rPr>
              <a:t>Environmental:</a:t>
            </a:r>
            <a:r>
              <a:rPr sz="1360" b="0" u="none">
                <a:solidFill>
                  <a:srgbClr val="1F2A44"/>
                </a:solidFill>
                <a:latin typeface="Arial"/>
              </a:rPr>
              <a:t> continuous all-weather monitoring of glaciers, wetlands, coastlines and forest cover.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0B3C5D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431536" cy="504748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None/>
            </a:pPr>
            <a:r>
              <a:rPr sz="1730" b="1" u="none">
                <a:solidFill>
                  <a:srgbClr val="C25E00"/>
                </a:solidFill>
                <a:latin typeface="Arial"/>
              </a:rPr>
              <a:t>RESEARCH &amp; REFERENCES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Isola et al., Image-to-Image Translation with Conditional Adversarial Networks (pix2pix), CVPR 2017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arxiv.org/abs/1611.07004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Wang et al., High-Resolution Image Synthesis with Conditional GANs (pix2pixHD), CVPR 2018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arxiv.org/abs/1711.11585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Fuentes Reyes et al., SAR-to-Optical Image Translation Based on Conditional GAN, Remote Sensing 2019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mdpi.com/2072-4292/11/17/2067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Gal &amp; Ghahramani, Dropout as a Bayesian Approximation — the basis of our confidence map, ICML 2016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arxiv.org/abs/1506.02142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Bonafilia et al., Sen1Floods11 — georeferenced flood dataset for Sentinel-1, CVPRW 2020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github.com/cloudtostreet/Sen1Floods11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300216" y="1188720"/>
            <a:ext cx="5431536" cy="504748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C7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None/>
            </a:pPr>
            <a:r>
              <a:rPr sz="1730" b="1" u="none">
                <a:solidFill>
                  <a:srgbClr val="C25E00"/>
                </a:solidFill>
                <a:latin typeface="Arial"/>
              </a:rPr>
              <a:t>DATASETS, TOOLS &amp; DATA SOURCES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Schmitt et al., SEN1-2 — 282k SAR–optical pairs; the paper names SAR colorization as its first application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arxiv.org/abs/1807.01569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Schmitt et al., SEN12MS — VV+VH plus MODIS land cover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arxiv.org/abs/1906.07789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Copernicus Data Space — Sentinel-1 GRD and Sentinel-2 L2A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dataspace.copernicus.eu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ISRO Bhoonidhi — Indian EO data portal (RISAT, Resourcesat)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bhoonidhi.nrsc.gov.in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1F2A44"/>
                </a:solidFill>
                <a:latin typeface="Arial"/>
              </a:rPr>
              <a:t>ESA SNAP Toolbox — calibration, speckle filtering, terrain correction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C25E00"/>
                </a:solidFill>
                <a:latin typeface="Arial"/>
              </a:rPr>
              <a:t>step.esa.int/main/toolboxes/snap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