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874519"/>
            <a:ext cx="5230368" cy="4251960"/>
          </a:xfrm>
          <a:prstGeom prst="rect">
            <a:avLst/>
          </a:prstGeom>
          <a:noFill/>
        </p:spPr>
        <p:txBody>
          <a:bodyPr wrap="square" rtlCol="0"/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20303F"/>
                </a:solidFill>
                <a:latin typeface="Arial"/>
              </a:rPr>
              <a:t>Problem Statement ID - </a:t>
            </a:r>
            <a:r>
              <a:rPr sz="1950" b="0" u="none">
                <a:solidFill>
                  <a:srgbClr val="20303F"/>
                </a:solidFill>
                <a:latin typeface="Arial"/>
              </a:rPr>
              <a:t>SIH1668</a:t>
            </a:r>
            <a:endParaRPr lang="en-US" dirty="0"/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20303F"/>
                </a:solidFill>
                <a:latin typeface="Arial"/>
              </a:rPr>
              <a:t>Problem Statement Title - </a:t>
            </a:r>
            <a:r>
              <a:rPr sz="1950" b="0" u="none">
                <a:solidFill>
                  <a:srgbClr val="20303F"/>
                </a:solidFill>
                <a:latin typeface="Arial"/>
              </a:rPr>
              <a:t>Creating an application to identify the presence of government-issued personally identifiable information (PII) embedded in documents and data, inadvertently or otherwise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20303F"/>
                </a:solidFill>
                <a:latin typeface="Arial"/>
              </a:rPr>
              <a:t>Theme - </a:t>
            </a:r>
            <a:r>
              <a:rPr sz="1950" b="0" u="none">
                <a:solidFill>
                  <a:srgbClr val="20303F"/>
                </a:solidFill>
                <a:latin typeface="Arial"/>
              </a:rPr>
              <a:t>Blockchain &amp; Cybersecurity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20303F"/>
                </a:solidFill>
                <a:latin typeface="Arial"/>
              </a:rPr>
              <a:t>PS Category - </a:t>
            </a:r>
            <a:r>
              <a:rPr sz="1950" b="0" u="none">
                <a:solidFill>
                  <a:srgbClr val="20303F"/>
                </a:solidFill>
                <a:latin typeface="Arial"/>
              </a:rPr>
              <a:t>Software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20303F"/>
                </a:solidFill>
                <a:latin typeface="Arial"/>
              </a:rPr>
              <a:t>Team ID - </a:t>
            </a:r>
            <a:r>
              <a:rPr sz="1950" b="0" u="none">
                <a:solidFill>
                  <a:srgbClr val="20303F"/>
                </a:solidFill>
                <a:latin typeface="Arial"/>
              </a:rPr>
              <a:t>(to be filled after portal registration)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1170"/>
              </a:spcAft>
              <a:buFont typeface="Arial"/>
              <a:buChar char="•"/>
            </a:pPr>
            <a:r>
              <a:rPr sz="1950" b="1" u="none">
                <a:solidFill>
                  <a:srgbClr val="20303F"/>
                </a:solidFill>
                <a:latin typeface="Arial"/>
              </a:rPr>
              <a:t>Team Name - </a:t>
            </a:r>
            <a:r>
              <a:rPr sz="1950" b="0" u="none">
                <a:solidFill>
                  <a:srgbClr val="20303F"/>
                </a:solidFill>
                <a:latin typeface="Arial"/>
              </a:rPr>
              <a:t>DELTA FORCE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900" b="1" u="none">
                <a:solidFill>
                  <a:srgbClr val="20303F"/>
                </a:solidFill>
                <a:latin typeface="Arial"/>
              </a:rPr>
              <a:t>RedactIQ - Catch Government-Issued PII Before It Is Ever Stored, Then Remove It for Good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188720"/>
            <a:ext cx="7059168" cy="50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20"/>
              </a:spcAft>
              <a:buNone/>
            </a:pPr>
            <a:r>
              <a:rPr sz="2039" b="1" u="sng">
                <a:solidFill>
                  <a:srgbClr val="20303F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90"/>
              </a:spcAft>
              <a:buFont typeface="Arial"/>
              <a:buChar char="▪"/>
            </a:pPr>
            <a:r>
              <a:rPr sz="1700" b="1" u="none">
                <a:solidFill>
                  <a:srgbClr val="20303F"/>
                </a:solidFill>
                <a:latin typeface="Arial"/>
              </a:rPr>
              <a:t>What it is:</a:t>
            </a:r>
            <a:r>
              <a:rPr sz="1700" b="0" u="none">
                <a:solidFill>
                  <a:srgbClr val="20303F"/>
                </a:solidFill>
                <a:latin typeface="Arial"/>
              </a:rPr>
              <a:t> a library and web application that scans any uploaded artefact - PDF, DOCX, XLSX, scanned image or photograph - and flags government-issued PII (Aadhaar, PAN, Driving Licence, Voter ID, Passport) before it is stored, forwarded or indexed.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90"/>
              </a:spcAft>
              <a:buFont typeface="Arial"/>
              <a:buChar char="▪"/>
            </a:pPr>
            <a:r>
              <a:rPr sz="1700" b="1" u="none">
                <a:solidFill>
                  <a:srgbClr val="20303F"/>
                </a:solidFill>
                <a:latin typeface="Arial"/>
              </a:rPr>
              <a:t>How it solves the problem:</a:t>
            </a:r>
            <a:r>
              <a:rPr sz="1700" b="0" u="none">
                <a:solidFill>
                  <a:srgbClr val="20303F"/>
                </a:solidFill>
                <a:latin typeface="Arial"/>
              </a:rPr>
              <a:t> the citizen is warned at upload time that they are about to over-share; the data fiduciary receives a risk report and one-click irreversible redaction. Both sides of the PS - alerting the user and helping the receiver - are covered.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90"/>
              </a:spcAft>
              <a:buFont typeface="Arial"/>
              <a:buChar char="▪"/>
            </a:pPr>
            <a:r>
              <a:rPr sz="1700" b="1" u="none">
                <a:solidFill>
                  <a:srgbClr val="20303F"/>
                </a:solidFill>
                <a:latin typeface="Arial"/>
              </a:rPr>
              <a:t>Detection runs in three layers:</a:t>
            </a:r>
            <a:r>
              <a:rPr sz="1700" b="0" u="none">
                <a:solidFill>
                  <a:srgbClr val="20303F"/>
                </a:solidFill>
                <a:latin typeface="Arial"/>
              </a:rPr>
              <a:t> structural (regex plus checksum validation), semantic (Indic NER for names, addresses, DOB) and visual (a detector that recognises the ID card, face photo and signature inside a scan even when no text is extractable at all).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90"/>
              </a:spcAft>
              <a:buFont typeface="Arial"/>
              <a:buChar char="▪"/>
            </a:pPr>
            <a:r>
              <a:rPr sz="1700" b="1" u="none">
                <a:solidFill>
                  <a:srgbClr val="20303F"/>
                </a:solidFill>
                <a:latin typeface="Arial"/>
              </a:rPr>
              <a:t>Why the third layer matters:</a:t>
            </a:r>
            <a:r>
              <a:rPr sz="1700" b="0" u="none">
                <a:solidFill>
                  <a:srgbClr val="20303F"/>
                </a:solidFill>
                <a:latin typeface="Arial"/>
              </a:rPr>
              <a:t> every existing tool is text-only. A photographed Aadhaar card in a JPEG carries full PII and passes straight through a regex scanner. Ours does not let it through.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20303F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7818120" y="1188720"/>
            <a:ext cx="3913631" cy="5047488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10"/>
              </a:spcAft>
              <a:buNone/>
            </a:pPr>
            <a:r>
              <a:rPr sz="1610" b="1" u="none">
                <a:solidFill>
                  <a:srgbClr val="00736B"/>
                </a:solidFill>
                <a:latin typeface="Arial"/>
              </a:rPr>
              <a:t>INNOVATION &amp; UNIQUENESS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540" b="1" u="none">
                <a:solidFill>
                  <a:srgbClr val="20303F"/>
                </a:solidFill>
                <a:latin typeface="Arial"/>
              </a:rPr>
              <a:t>01  Validated, not merely matched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10"/>
              </a:spcAft>
              <a:buNone/>
            </a:pPr>
            <a:r>
              <a:rPr sz="1410" b="0" u="none">
                <a:solidFill>
                  <a:srgbClr val="4A5A68"/>
                </a:solidFill>
                <a:latin typeface="Arial"/>
              </a:rPr>
              <a:t>Aadhaar numbers are confirmed with the Verhoeff checksum and PAN with its structural rule, so a 12-digit invoice number is not flagged. This collapses the false-positive rate that makes regex-based tools unusable in production.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540" b="1" u="none">
                <a:solidFill>
                  <a:srgbClr val="20303F"/>
                </a:solidFill>
                <a:latin typeface="Arial"/>
              </a:rPr>
              <a:t>02  Redaction that cannot be undone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10"/>
              </a:spcAft>
              <a:buNone/>
            </a:pPr>
            <a:r>
              <a:rPr sz="1410" b="0" u="none">
                <a:solidFill>
                  <a:srgbClr val="4A5A68"/>
                </a:solidFill>
                <a:latin typeface="Arial"/>
              </a:rPr>
              <a:t>We rewrite the underlying content stream and strip XMP/EXIF metadata, then verify by re-extraction. Most 'redaction' tools draw a black rectangle over text that is still sitting in the file - a documented cause of real breaches.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540" b="1" u="none">
                <a:solidFill>
                  <a:srgbClr val="20303F"/>
                </a:solidFill>
                <a:latin typeface="Arial"/>
              </a:rPr>
              <a:t>03  Fully offline and on-premise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1210"/>
              </a:spcAft>
              <a:buNone/>
            </a:pPr>
            <a:r>
              <a:rPr sz="1410" b="0" u="none">
                <a:solidFill>
                  <a:srgbClr val="4A5A68"/>
                </a:solidFill>
                <a:latin typeface="Arial"/>
              </a:rPr>
              <a:t>No document ever leaves the organisation. Shipped as a pip package, a REST API and a browser extension - removing the single biggest blocker to government adoption.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20303F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1650492" cy="841248"/>
          </a:xfrm>
          <a:prstGeom prst="roundRect">
            <a:avLst>
              <a:gd name="adj" fmla="val 6000"/>
            </a:avLst>
          </a:prstGeom>
          <a:solidFill>
            <a:srgbClr val="20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u="none">
                <a:solidFill>
                  <a:srgbClr val="FFFFFF"/>
                </a:solidFill>
                <a:latin typeface="Arial"/>
              </a:rPr>
              <a:t>Ingest
PDF / DOCX / XLSX / IMG</a:t>
            </a:r>
          </a:p>
        </p:txBody>
      </p:sp>
      <p:sp>
        <p:nvSpPr>
          <p:cNvPr id="17411" name="Right Arrow 17410"/>
          <p:cNvSpPr/>
          <p:nvPr/>
        </p:nvSpPr>
        <p:spPr>
          <a:xfrm>
            <a:off x="2148839" y="1531620"/>
            <a:ext cx="192024" cy="155448"/>
          </a:xfrm>
          <a:prstGeom prst="rightArrow">
            <a:avLst/>
          </a:prstGeom>
          <a:solidFill>
            <a:srgbClr val="A9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382012" y="1188720"/>
            <a:ext cx="1650492" cy="841248"/>
          </a:xfrm>
          <a:prstGeom prst="roundRect">
            <a:avLst>
              <a:gd name="adj" fmla="val 6000"/>
            </a:avLst>
          </a:prstGeom>
          <a:solidFill>
            <a:srgbClr val="20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u="none">
                <a:solidFill>
                  <a:srgbClr val="FFFFFF"/>
                </a:solidFill>
                <a:latin typeface="Arial"/>
              </a:rPr>
              <a:t>Layout parse
+ multi-engine OCR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4073652" y="1531620"/>
            <a:ext cx="192024" cy="155448"/>
          </a:xfrm>
          <a:prstGeom prst="rightArrow">
            <a:avLst/>
          </a:prstGeom>
          <a:solidFill>
            <a:srgbClr val="A9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306824" y="1188720"/>
            <a:ext cx="1650492" cy="841248"/>
          </a:xfrm>
          <a:prstGeom prst="roundRect">
            <a:avLst>
              <a:gd name="adj" fmla="val 6000"/>
            </a:avLst>
          </a:prstGeom>
          <a:solidFill>
            <a:srgbClr val="20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u="none">
                <a:solidFill>
                  <a:srgbClr val="FFFFFF"/>
                </a:solidFill>
                <a:latin typeface="Arial"/>
              </a:rPr>
              <a:t>Layer 1
Structural + checksum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5998464" y="1531620"/>
            <a:ext cx="192024" cy="155448"/>
          </a:xfrm>
          <a:prstGeom prst="rightArrow">
            <a:avLst/>
          </a:prstGeom>
          <a:solidFill>
            <a:srgbClr val="A9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231636" y="1188720"/>
            <a:ext cx="1650492" cy="841248"/>
          </a:xfrm>
          <a:prstGeom prst="roundRect">
            <a:avLst>
              <a:gd name="adj" fmla="val 6000"/>
            </a:avLst>
          </a:prstGeom>
          <a:solidFill>
            <a:srgbClr val="20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u="none">
                <a:solidFill>
                  <a:srgbClr val="FFFFFF"/>
                </a:solidFill>
                <a:latin typeface="Arial"/>
              </a:rPr>
              <a:t>Layer 2
Indic NER (semantic)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7923275" y="1531620"/>
            <a:ext cx="192024" cy="155448"/>
          </a:xfrm>
          <a:prstGeom prst="rightArrow">
            <a:avLst/>
          </a:prstGeom>
          <a:solidFill>
            <a:srgbClr val="A9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8156448" y="1188720"/>
            <a:ext cx="1650492" cy="841248"/>
          </a:xfrm>
          <a:prstGeom prst="roundRect">
            <a:avLst>
              <a:gd name="adj" fmla="val 6000"/>
            </a:avLst>
          </a:prstGeom>
          <a:solidFill>
            <a:srgbClr val="20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u="none">
                <a:solidFill>
                  <a:srgbClr val="FFFFFF"/>
                </a:solidFill>
                <a:latin typeface="Arial"/>
              </a:rPr>
              <a:t>Layer 3
Visual ID detection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9848088" y="1531620"/>
            <a:ext cx="192024" cy="155448"/>
          </a:xfrm>
          <a:prstGeom prst="rightArrow">
            <a:avLst/>
          </a:prstGeom>
          <a:solidFill>
            <a:srgbClr val="A9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10081260" y="1188720"/>
            <a:ext cx="1650492" cy="841248"/>
          </a:xfrm>
          <a:prstGeom prst="roundRect">
            <a:avLst>
              <a:gd name="adj" fmla="val 6000"/>
            </a:avLst>
          </a:prstGeom>
          <a:solidFill>
            <a:srgbClr val="20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 u="none">
                <a:solidFill>
                  <a:srgbClr val="FFFFFF"/>
                </a:solidFill>
                <a:latin typeface="Arial"/>
              </a:rPr>
              <a:t>Risk report
+ true redaction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57200" y="2304288"/>
            <a:ext cx="5431536" cy="393192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200" b="1" u="none">
                <a:solidFill>
                  <a:srgbClr val="00736B"/>
                </a:solidFill>
                <a:latin typeface="Arial"/>
              </a:rPr>
              <a:t>TECHNOLOGIES TO BE USED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Core:</a:t>
            </a:r>
            <a:r>
              <a:rPr sz="1150" b="0" u="none">
                <a:solidFill>
                  <a:srgbClr val="20303F"/>
                </a:solidFill>
                <a:latin typeface="Arial"/>
              </a:rPr>
              <a:t> Python, FastAPI, React; distributed as a pip-installable library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OCR:</a:t>
            </a:r>
            <a:r>
              <a:rPr sz="1150" b="0" u="none">
                <a:solidFill>
                  <a:srgbClr val="20303F"/>
                </a:solidFill>
                <a:latin typeface="Arial"/>
              </a:rPr>
              <a:t> PaddleOCR and Tesseract with Indic language packs, plus image enhancement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NLP:</a:t>
            </a:r>
            <a:r>
              <a:rPr sz="1150" b="0" u="none">
                <a:solidFill>
                  <a:srgbClr val="20303F"/>
                </a:solidFill>
                <a:latin typeface="Arial"/>
              </a:rPr>
              <a:t> MuRIL / IndicBERT fine-tuned for named-entity recognition across Indian scripts; spaCy pipeline orchestration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Vision:</a:t>
            </a:r>
            <a:r>
              <a:rPr sz="1150" b="0" u="none">
                <a:solidFill>
                  <a:srgbClr val="20303F"/>
                </a:solidFill>
                <a:latin typeface="Arial"/>
              </a:rPr>
              <a:t> YOLOv8 detector for ID-card layouts, face photos and signature blocks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Document I/O:</a:t>
            </a:r>
            <a:r>
              <a:rPr sz="1150" b="0" u="none">
                <a:solidFill>
                  <a:srgbClr val="20303F"/>
                </a:solidFill>
                <a:latin typeface="Arial"/>
              </a:rPr>
              <a:t> PyMuPDF, python-docx, openpyxl, Pillow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Validation:</a:t>
            </a:r>
            <a:r>
              <a:rPr sz="1150" b="0" u="none">
                <a:solidFill>
                  <a:srgbClr val="20303F"/>
                </a:solidFill>
                <a:latin typeface="Arial"/>
              </a:rPr>
              <a:t> Verhoeff checksum (Aadhaar), PAN and DL structural grammars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Delivery:</a:t>
            </a:r>
            <a:r>
              <a:rPr sz="1150" b="0" u="none">
                <a:solidFill>
                  <a:srgbClr val="20303F"/>
                </a:solidFill>
                <a:latin typeface="Arial"/>
              </a:rPr>
              <a:t> Docker, ONNX Runtime, Manifest V3 browser extension, CLI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300216" y="2304288"/>
            <a:ext cx="5431536" cy="393192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200" b="1" u="none">
                <a:solidFill>
                  <a:srgbClr val="00736B"/>
                </a:solidFill>
                <a:latin typeface="Arial"/>
              </a:rPr>
              <a:t>METHODOLOGY &amp; IMPLEMENTATION PROCESS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1  Ingest and normalise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u="none">
                <a:solidFill>
                  <a:srgbClr val="4A5A68"/>
                </a:solidFill>
                <a:latin typeface="Arial"/>
              </a:rPr>
              <a:t>Parse every supported format into one page-plus-layout representation; anything raster goes through multi-engine OCR with deskew and denoise.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2  Structural layer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u="none">
                <a:solidFill>
                  <a:srgbClr val="4A5A68"/>
                </a:solidFill>
                <a:latin typeface="Arial"/>
              </a:rPr>
              <a:t>Regex generates candidates for Aadhaar, PAN, DL, Passport and Voter ID; each candidate must then pass checksum and format validation to survive.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3  Semantic layer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u="none">
                <a:solidFill>
                  <a:srgbClr val="4A5A68"/>
                </a:solidFill>
                <a:latin typeface="Arial"/>
              </a:rPr>
              <a:t>Indic NER extracts names, addresses, DOB, phone and email, with a context window score that decides whether they constitute identifying information.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4  Visual layer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u="none">
                <a:solidFill>
                  <a:srgbClr val="4A5A68"/>
                </a:solidFill>
                <a:latin typeface="Arial"/>
              </a:rPr>
              <a:t>A detector finds ID-card layouts, face photos and signatures directly in the image - catching PII that carries no extractable text whatsoever.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5  Score and report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u="none">
                <a:solidFill>
                  <a:srgbClr val="4A5A68"/>
                </a:solidFill>
                <a:latin typeface="Arial"/>
              </a:rPr>
              <a:t>Per-document sensitivity score plus a report mapped to DPDP Act 2023 obligations, so compliance teams can act on it directly.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50" b="1" u="none">
                <a:solidFill>
                  <a:srgbClr val="20303F"/>
                </a:solidFill>
                <a:latin typeface="Arial"/>
              </a:rPr>
              <a:t>6  Redact and audit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50" b="0" u="none">
                <a:solidFill>
                  <a:srgbClr val="4A5A68"/>
                </a:solidFill>
                <a:latin typeface="Arial"/>
              </a:rPr>
              <a:t>Irreversible masking in the content stream, metadata stripped, tamper-evident audit log written.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20303F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3526536" cy="5047488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20"/>
              </a:spcAft>
              <a:buNone/>
            </a:pPr>
            <a:r>
              <a:rPr sz="1430" b="1" u="none">
                <a:solidFill>
                  <a:srgbClr val="00736B"/>
                </a:solidFill>
                <a:latin typeface="Arial"/>
              </a:rPr>
              <a:t>FEASIBILITY OF THE IDEA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No dataset bottleneck - the structural and visual layers need almost no labelled data, and we generate realistic synthetic ID documents for the rest.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Every component is mature open source: PaddleOCR, MuRIL, YOLOv8, PyMuPDF. There is no research risk on the critical path.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Runs entirely offline on commodity hardware - no GPU required for inference, which is what makes government deployment realistic.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Demoable within days: layers 1 and 3 alone already deliver a convincing, genuinely useful product.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Team of six splits across ingestion, structural rules, NER, vision, redaction engine and the API/extension surface.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31208" y="1188720"/>
            <a:ext cx="3526536" cy="5047488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EB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20"/>
              </a:spcAft>
              <a:buNone/>
            </a:pPr>
            <a:r>
              <a:rPr sz="1430" b="1" u="none">
                <a:solidFill>
                  <a:srgbClr val="9A4B2F"/>
                </a:solidFill>
                <a:latin typeface="Arial"/>
              </a:rPr>
              <a:t>POTENTIAL CHALLENGES &amp; RISKS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False positives on lookalike numbers - invoice IDs, order numbers and account numbers that share Aadhaar's shape.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OCR failure on poor scans, handwriting, low-contrast photocopies and regional scripts.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Real Aadhaar data cannot lawfully be used for training or testing.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Adversarial and incidental obfuscation - spaced, hyphenated, homoglyph-substituted or line-broken numbers evade naive matching.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Redaction that can be reversed, which is the exact failure mode of most tools already on the market.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205216" y="1188720"/>
            <a:ext cx="3526536" cy="5047488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20"/>
              </a:spcAft>
              <a:buNone/>
            </a:pPr>
            <a:r>
              <a:rPr sz="1430" b="1" u="none">
                <a:solidFill>
                  <a:srgbClr val="00736B"/>
                </a:solidFill>
                <a:latin typeface="Arial"/>
              </a:rPr>
              <a:t>STRATEGIES TO OVERCOME THEM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Checksum validation plus context-window scoring, with a precision/recall threshold each deployment can tune to its own risk appetite.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Multi-engine OCR with deskew, denoise and super-resolution; the visual layer independently catches what OCR misses entirely.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A synthetic ID generator producing realistic but entirely fake documents for training and evaluation - lawful and reproducible.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Normalise separators, homoglyphs, whitespace and line breaks before matching, with a sliding-window scan across layout boundaries.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990"/>
              </a:spcAft>
              <a:buFont typeface="Arial"/>
              <a:buChar char="▪"/>
            </a:pPr>
            <a:r>
              <a:rPr sz="1300" b="0" u="none">
                <a:solidFill>
                  <a:srgbClr val="20303F"/>
                </a:solidFill>
                <a:latin typeface="Arial"/>
              </a:rPr>
              <a:t>Redaction rewrites the content stream and strips metadata, verified by an automated re-extraction test in CI on every build.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20303F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3563112" cy="1170432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u="none">
                <a:solidFill>
                  <a:srgbClr val="00736B"/>
                </a:solidFill>
                <a:latin typeface="Arial"/>
              </a:rPr>
              <a:t>5 ID types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 u="none">
                <a:solidFill>
                  <a:srgbClr val="4A5A68"/>
                </a:solidFill>
                <a:latin typeface="Arial"/>
              </a:rPr>
              <a:t>Aadhaar, PAN, Driving Licence, Voter ID and Passport from day one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12920" y="1188720"/>
            <a:ext cx="3563112" cy="1170432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u="none">
                <a:solidFill>
                  <a:srgbClr val="00736B"/>
                </a:solidFill>
                <a:latin typeface="Arial"/>
              </a:rPr>
              <a:t>100% offline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 u="none">
                <a:solidFill>
                  <a:srgbClr val="4A5A68"/>
                </a:solidFill>
                <a:latin typeface="Arial"/>
              </a:rPr>
              <a:t>No document leaves the premises - the adoption blocker, removed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168640" y="1188720"/>
            <a:ext cx="3563112" cy="1170432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u="none">
                <a:solidFill>
                  <a:srgbClr val="00736B"/>
                </a:solidFill>
                <a:latin typeface="Arial"/>
              </a:rPr>
              <a:t>DPDP-ready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 u="none">
                <a:solidFill>
                  <a:srgbClr val="4A5A68"/>
                </a:solidFill>
                <a:latin typeface="Arial"/>
              </a:rPr>
              <a:t>Reports map directly onto Digital Personal Data Protection Act duties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633472"/>
            <a:ext cx="5431536" cy="360273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540" b="1" u="none">
                <a:solidFill>
                  <a:srgbClr val="00736B"/>
                </a:solidFill>
                <a:latin typeface="Arial"/>
              </a:rPr>
              <a:t>POTENTIAL IMPACT ON THE TARGET AUDIENCE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Citizens: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warned before over-sharing Aadhaar or PAN - the single largest source of identity-theft and financial-fraud exposure in India today.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Data fiduciaries: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banks, telcos, hospitals, colleges and e-governance portals get automated data minimisation instead of manual review that does not happen.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Government departments: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existing document archives can be audited in bulk for PII that was stored inadvertently years ago and never noticed.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Developers: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a pip-installable library means PII checking can be added to any Indian upload flow in an afternoon, which is how this actually reaches scale.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300216" y="2633472"/>
            <a:ext cx="5431536" cy="360273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540" b="1" u="none">
                <a:solidFill>
                  <a:srgbClr val="00736B"/>
                </a:solidFill>
                <a:latin typeface="Arial"/>
              </a:rPr>
              <a:t>BENEFITS (SOCIAL, ECONOMIC, LEGAL, OPERATIONAL)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Legal: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direct compliance with the Digital Personal Data Protection Act 2023 duties of data minimisation, purpose limitation and storage limitation.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Economic: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avoids penalties and breach-remediation cost; open-source and on-premise, so there is no per-document licence spend.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Social: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fewer identity thefts and less financial fraud, protecting first-time and low-literacy digital users who are least able to recover from a breach.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019"/>
              </a:spcAft>
              <a:buFont typeface="Arial"/>
              <a:buChar char="▪"/>
            </a:pPr>
            <a:r>
              <a:rPr sz="1410" b="1" u="none">
                <a:solidFill>
                  <a:srgbClr val="20303F"/>
                </a:solidFill>
                <a:latin typeface="Arial"/>
              </a:rPr>
              <a:t>Operational:</a:t>
            </a:r>
            <a:r>
              <a:rPr sz="1410" b="0" u="none">
                <a:solidFill>
                  <a:srgbClr val="20303F"/>
                </a:solidFill>
                <a:latin typeface="Arial"/>
              </a:rPr>
              <a:t> smaller and cleaner data stores, lighter retention burden, and audits that take hours rather than months.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7955279" cy="1005840"/>
          </a:xfrm>
        </p:spPr>
        <p:txBody>
          <a:bodyPr wrap="square" anchor="ctr"/>
          <a:lstStyle/>
          <a:p>
            <a:pPr eaLnBrk="1" hangingPunct="1" algn="l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27432" rIns="27432"/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u="none">
                <a:solidFill>
                  <a:srgbClr val="20303F"/>
                </a:solidFill>
                <a:latin typeface="Arial"/>
              </a:rPr>
              <a:t>DELTA FORCE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431536" cy="5047488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None/>
            </a:pPr>
            <a:r>
              <a:rPr sz="1730" b="1" u="none">
                <a:solidFill>
                  <a:srgbClr val="00736B"/>
                </a:solidFill>
                <a:latin typeface="Arial"/>
              </a:rPr>
              <a:t>RESEARCH &amp; REFERENCES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Digital Personal Data Protection Act, 2023 - statutory basis for data minimisation and purpose limitation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meity.gov.in/data-protection-framework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UIDAI - Aadhaar Data Vault and Aadhaar number masking circulars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uidai.gov.in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NIST SP 800-122 - Guide to Protecting the Confidentiality of Personally Identifiable Information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csrc.nist.gov/pubs/sp/800/122/final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Khanuja et al., MuRIL - Multilingual Representations for Indian Languages, 2021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arxiv.org/abs/2103.10730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Kakwani et al., IndicNLPSuite - Monolingual Corpora and Evaluation Benchmarks for Indian Languages, Findings of EMNLP 2020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ai4bharat.org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300216" y="1188720"/>
            <a:ext cx="5431536" cy="5047488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 w="12700">
            <a:solidFill>
              <a:srgbClr val="C2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109728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None/>
            </a:pPr>
            <a:r>
              <a:rPr sz="1730" b="1" u="none">
                <a:solidFill>
                  <a:srgbClr val="00736B"/>
                </a:solidFill>
                <a:latin typeface="Arial"/>
              </a:rPr>
              <a:t>EXISTING SOLUTIONS SURVEYED &amp; TOOLING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Microsoft Presidio - open-source PII SDK; text-only and has no Indian ID validators, which is precisely the gap we fill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github.com/microsoft/presidio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PaddleOCR - multilingual OCR with Indic script support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github.com/PaddlePaddle/PaddleOCR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Ultralytics YOLOv8 - object detection for the visual ID layer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github.com/ultralytics/ultralytics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PyMuPDF redaction API - true content-stream removal, not overlay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pymupdf.readthedocs.io</a:t>
            </a:r>
          </a:p>
          <a:p>
            <a:pPr marL="182880" indent="-182880" algn="l">
              <a:lnSpc>
                <a:spcPct val="104000"/>
              </a:lnSpc>
              <a:spcBef>
                <a:spcPts val="0"/>
              </a:spcBef>
              <a:spcAft>
                <a:spcPts val="140"/>
              </a:spcAft>
              <a:buFont typeface="Arial"/>
              <a:buChar char="▪"/>
            </a:pPr>
            <a:r>
              <a:rPr sz="1510" b="0" u="none">
                <a:solidFill>
                  <a:srgbClr val="20303F"/>
                </a:solidFill>
                <a:latin typeface="Arial"/>
              </a:rPr>
              <a:t>Verhoeff dihedral-group checksum - the algorithm UIDAI uses for Aadhaar validity</a:t>
            </a:r>
          </a:p>
          <a:p>
            <a:pPr marL="201168" indent="0" algn="l">
              <a:lnSpc>
                <a:spcPct val="104000"/>
              </a:lnSpc>
              <a:spcBef>
                <a:spcPts val="0"/>
              </a:spcBef>
              <a:spcAft>
                <a:spcPts val="1150"/>
              </a:spcAft>
              <a:buNone/>
            </a:pPr>
            <a:r>
              <a:rPr sz="1440" b="0" u="none">
                <a:solidFill>
                  <a:srgbClr val="00736B"/>
                </a:solidFill>
                <a:latin typeface="Arial"/>
              </a:rPr>
              <a:t>en.wikipedia.org/wiki/Verhoeff_algorithm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